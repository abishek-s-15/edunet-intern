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3"/>
  </p:notesMasterIdLst>
  <p:sldIdLst>
    <p:sldId id="256" r:id="rId5"/>
    <p:sldId id="2146847054" r:id="rId6"/>
    <p:sldId id="262" r:id="rId7"/>
    <p:sldId id="263" r:id="rId8"/>
    <p:sldId id="2146847058" r:id="rId9"/>
    <p:sldId id="265" r:id="rId10"/>
    <p:sldId id="2146847057" r:id="rId11"/>
    <p:sldId id="2146847066" r:id="rId12"/>
    <p:sldId id="2146847060" r:id="rId13"/>
    <p:sldId id="2146847067" r:id="rId14"/>
    <p:sldId id="2146847068" r:id="rId15"/>
    <p:sldId id="2146847062" r:id="rId16"/>
    <p:sldId id="2146847061" r:id="rId17"/>
    <p:sldId id="2146847055" r:id="rId18"/>
    <p:sldId id="2146847059" r:id="rId19"/>
    <p:sldId id="2146847069" r:id="rId20"/>
    <p:sldId id="2146847070" r:id="rId21"/>
    <p:sldId id="25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82AC"/>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2522C5-0B34-8239-4EE4-793E8B6C05A9}" v="255" dt="2025-07-01T09:33:34.532"/>
    <p1510:client id="{D7F1B23C-5E68-AC61-D210-0912C84FE76E}" v="44" dt="2025-07-01T09:37:32.263"/>
    <p1510:client id="{D894958A-9A7A-283B-0ADF-D9632CD88E74}" v="14" dt="2025-07-01T10:57:40.2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snapToGrid="0">
      <p:cViewPr varScale="1">
        <p:scale>
          <a:sx n="78" d="100"/>
          <a:sy n="78" d="100"/>
        </p:scale>
        <p:origin x="850" y="62"/>
      </p:cViewPr>
      <p:guideLst/>
    </p:cSldViewPr>
  </p:slideViewPr>
  <p:outlineViewPr>
    <p:cViewPr>
      <p:scale>
        <a:sx n="33" d="100"/>
        <a:sy n="33" d="100"/>
      </p:scale>
      <p:origin x="0" y="-700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06-08-2025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8/6/2025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8/6/2025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8/6/2025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8/6/2025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8/6/2025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8/6/2025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8/6/2025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8/6/2025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ABISHEK-S-15/edunet-intern.gi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61976"/>
            <a:ext cx="9144000" cy="977778"/>
          </a:xfrm>
        </p:spPr>
        <p:txBody>
          <a:bodyPr>
            <a:normAutofit fontScale="90000"/>
          </a:bodyPr>
          <a:lstStyle/>
          <a:p>
            <a:pPr algn="ctr"/>
            <a:r>
              <a:rPr lang="en-US" dirty="0">
                <a:solidFill>
                  <a:srgbClr val="1482AC"/>
                </a:solidFill>
              </a:rPr>
              <a:t>AI agent for chronic disease monitoring</a:t>
            </a:r>
            <a:endParaRPr lang="en-US" b="1" dirty="0">
              <a:solidFill>
                <a:srgbClr val="1482AC"/>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EDUNET AICTE INTERNSHIP</a:t>
            </a:r>
          </a:p>
        </p:txBody>
      </p:sp>
      <p:sp>
        <p:nvSpPr>
          <p:cNvPr id="4" name="TextBox 3"/>
          <p:cNvSpPr txBox="1"/>
          <p:nvPr/>
        </p:nvSpPr>
        <p:spPr>
          <a:xfrm>
            <a:off x="874059" y="4018247"/>
            <a:ext cx="11201400" cy="1323439"/>
          </a:xfrm>
          <a:prstGeom prst="rect">
            <a:avLst/>
          </a:prstGeom>
          <a:noFill/>
        </p:spPr>
        <p:txBody>
          <a:bodyPr wrap="square" lIns="91440" tIns="45720" rIns="91440" bIns="45720" rtlCol="0" anchor="t">
            <a:spAutoFit/>
          </a:bodyPr>
          <a:lstStyle/>
          <a:p>
            <a:r>
              <a:rPr lang="en-US" sz="2000" b="1" dirty="0">
                <a:solidFill>
                  <a:schemeClr val="accent4">
                    <a:lumMod val="20000"/>
                    <a:lumOff val="80000"/>
                  </a:schemeClr>
                </a:solidFill>
                <a:latin typeface="Arial" pitchFamily="34" charset="0"/>
                <a:cs typeface="Arial" pitchFamily="34" charset="0"/>
              </a:rPr>
              <a:t>Presented By: </a:t>
            </a:r>
          </a:p>
          <a:p>
            <a:r>
              <a:rPr lang="en-US" sz="2000" b="1" dirty="0">
                <a:solidFill>
                  <a:schemeClr val="accent4">
                    <a:lumMod val="20000"/>
                    <a:lumOff val="80000"/>
                  </a:schemeClr>
                </a:solidFill>
                <a:latin typeface="Arial" pitchFamily="34" charset="0"/>
                <a:cs typeface="Arial" pitchFamily="34" charset="0"/>
              </a:rPr>
              <a:t>Student name : ABISHEK.S</a:t>
            </a:r>
          </a:p>
          <a:p>
            <a:r>
              <a:rPr lang="en-US" sz="2000" b="1" dirty="0">
                <a:solidFill>
                  <a:schemeClr val="accent4">
                    <a:lumMod val="20000"/>
                    <a:lumOff val="80000"/>
                  </a:schemeClr>
                </a:solidFill>
                <a:latin typeface="Arial"/>
                <a:cs typeface="Arial"/>
              </a:rPr>
              <a:t>College Name &amp; Department : Global Institute of Engineering And Technology-Vellore</a:t>
            </a:r>
          </a:p>
          <a:p>
            <a:r>
              <a:rPr lang="en-US" sz="2000" b="1" dirty="0">
                <a:solidFill>
                  <a:schemeClr val="accent4">
                    <a:lumMod val="20000"/>
                    <a:lumOff val="80000"/>
                  </a:schemeClr>
                </a:solidFill>
                <a:latin typeface="Arial"/>
                <a:cs typeface="Arial"/>
              </a:rPr>
              <a:t>				</a:t>
            </a:r>
            <a:r>
              <a:rPr lang="en-US" sz="2000" b="1" dirty="0" err="1">
                <a:solidFill>
                  <a:schemeClr val="accent4">
                    <a:lumMod val="20000"/>
                    <a:lumOff val="80000"/>
                  </a:schemeClr>
                </a:solidFill>
                <a:latin typeface="Arial"/>
                <a:cs typeface="Arial"/>
              </a:rPr>
              <a:t>B.Tech</a:t>
            </a:r>
            <a:r>
              <a:rPr lang="en-US" sz="2000" b="1" dirty="0">
                <a:solidFill>
                  <a:schemeClr val="accent4">
                    <a:lumMod val="20000"/>
                    <a:lumOff val="80000"/>
                  </a:schemeClr>
                </a:solidFill>
                <a:latin typeface="Arial"/>
                <a:cs typeface="Arial"/>
              </a:rPr>
              <a:t> Information Technology</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Technology used</a:t>
            </a:r>
            <a:endParaRPr lang="en-US" dirty="0">
              <a:latin typeface="Arial"/>
              <a:cs typeface="Arial"/>
            </a:endParaRPr>
          </a:p>
          <a:p>
            <a:pPr marL="305435" indent="-305435"/>
            <a:r>
              <a:rPr lang="en-US" sz="2000" b="1" dirty="0">
                <a:latin typeface="Arial"/>
                <a:ea typeface="+mn-lt"/>
                <a:cs typeface="+mn-lt"/>
              </a:rPr>
              <a:t>Wow factor </a:t>
            </a:r>
            <a:endParaRPr lang="en-US" sz="2000" dirty="0">
              <a:latin typeface="Arial"/>
              <a:ea typeface="+mn-lt"/>
              <a:cs typeface="+mn-lt"/>
            </a:endParaRPr>
          </a:p>
          <a:p>
            <a:pPr marL="305435" indent="-305435"/>
            <a:r>
              <a:rPr lang="en-US" sz="2000" b="1" dirty="0">
                <a:latin typeface="Arial"/>
                <a:ea typeface="+mn-lt"/>
                <a:cs typeface="+mn-lt"/>
              </a:rPr>
              <a:t>End users</a:t>
            </a:r>
          </a:p>
          <a:p>
            <a:pPr marL="305435" indent="-305435"/>
            <a:r>
              <a:rPr lang="en-US" sz="2000" b="1" dirty="0">
                <a:latin typeface="Arial"/>
                <a:ea typeface="+mn-lt"/>
                <a:cs typeface="+mn-lt"/>
              </a:rPr>
              <a:t>Result</a:t>
            </a:r>
          </a:p>
          <a:p>
            <a:pPr marL="305435" indent="-305435"/>
            <a:r>
              <a:rPr lang="en-US" sz="2000" b="1" dirty="0">
                <a:latin typeface="Arial"/>
                <a:ea typeface="+mn-lt"/>
                <a:cs typeface="+mn-lt"/>
              </a:rPr>
              <a:t>Conclusion</a:t>
            </a:r>
          </a:p>
          <a:p>
            <a:pPr marL="305435" indent="-305435"/>
            <a:r>
              <a:rPr lang="en-US" sz="2000" b="1" dirty="0">
                <a:latin typeface="Arial"/>
                <a:ea typeface="+mn-lt"/>
                <a:cs typeface="+mn-lt"/>
              </a:rPr>
              <a:t>Git-hub Link</a:t>
            </a:r>
          </a:p>
          <a:p>
            <a:pPr marL="305435" indent="-305435"/>
            <a:r>
              <a:rPr lang="en-US" sz="2000" b="1" dirty="0">
                <a:latin typeface="Arial"/>
                <a:ea typeface="+mn-lt"/>
                <a:cs typeface="+mn-lt"/>
              </a:rPr>
              <a:t>Future scope</a:t>
            </a:r>
          </a:p>
          <a:p>
            <a:pPr marL="305435" indent="-305435"/>
            <a:r>
              <a:rPr lang="en-US" sz="2000" b="1" dirty="0">
                <a:latin typeface="Arial"/>
                <a:ea typeface="+mn-lt"/>
                <a:cs typeface="+mn-lt"/>
              </a:rPr>
              <a:t>IBM Certifications</a:t>
            </a:r>
          </a:p>
          <a:p>
            <a:pPr marL="305435" indent="-305435"/>
            <a:endParaRPr lang="en-US" sz="2000" b="1" dirty="0">
              <a:latin typeface="Arial"/>
              <a:ea typeface="+mn-lt"/>
              <a:cs typeface="+mn-lt"/>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425508" y="607448"/>
            <a:ext cx="11029616" cy="530296"/>
          </a:xfrm>
        </p:spPr>
        <p:txBody>
          <a:bodyPr>
            <a:noAutofit/>
          </a:bodyPr>
          <a:lstStyle/>
          <a:p>
            <a:r>
              <a:rPr lang="en-US" sz="3200" b="1" dirty="0">
                <a:solidFill>
                  <a:schemeClr val="accent1"/>
                </a:solidFill>
                <a:latin typeface="Arial" panose="020B0604020202020204" pitchFamily="34" charset="0"/>
                <a:cs typeface="Arial" panose="020B0604020202020204" pitchFamily="34" charset="0"/>
              </a:rPr>
              <a:t>Problem Statement</a:t>
            </a:r>
            <a:endParaRPr lang="en-US" sz="32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25509" y="1245899"/>
            <a:ext cx="11029615" cy="5311086"/>
          </a:xfrm>
        </p:spPr>
        <p:txBody>
          <a:bodyPr>
            <a:noAutofit/>
          </a:bodyPr>
          <a:lstStyle/>
          <a:p>
            <a:pPr marL="0" indent="0" algn="just">
              <a:buNone/>
            </a:pPr>
            <a:r>
              <a:rPr lang="en-US" sz="2300" dirty="0">
                <a:latin typeface="Times New Roman" panose="02020603050405020304" pitchFamily="18" charset="0"/>
                <a:cs typeface="Times New Roman" panose="02020603050405020304" pitchFamily="18" charset="0"/>
              </a:rPr>
              <a:t>An AI agent for chronic disease monitoring helps patients and healthcare providers manage long-term conditions effectively. It continuously analyzes health data from wearables, medical records, and patient inputs to detect early warning signs. Using AI and predictive analytics, it offers personalized insights, medication reminders, and lifestyle recommendations. The agent supports diseases like diabetes, hypertension, and heart conditions with real-time monitoring and alerts. It enables proactive care, reduces hospital visits, and improves patient adherence to treatment plans. This intelligent assistant bridges the gap between patients and providers, enhancing chronic care outcomes. </a:t>
            </a:r>
          </a:p>
          <a:p>
            <a:pPr marL="0" indent="0">
              <a:buNone/>
            </a:pPr>
            <a:r>
              <a:rPr lang="en-US" sz="2300" b="1" dirty="0">
                <a:latin typeface="Times New Roman" panose="02020603050405020304" pitchFamily="18" charset="0"/>
                <a:ea typeface="+mn-lt"/>
                <a:cs typeface="Times New Roman" panose="02020603050405020304" pitchFamily="18" charset="0"/>
              </a:rPr>
              <a:t>Proposed Solution:</a:t>
            </a:r>
            <a:br>
              <a:rPr lang="en-US" sz="2300" dirty="0">
                <a:latin typeface="Times New Roman" panose="02020603050405020304" pitchFamily="18" charset="0"/>
                <a:ea typeface="+mn-lt"/>
                <a:cs typeface="Times New Roman" panose="02020603050405020304" pitchFamily="18" charset="0"/>
              </a:rPr>
            </a:br>
            <a:r>
              <a:rPr lang="en-US" sz="2300" dirty="0">
                <a:latin typeface="Times New Roman" panose="02020603050405020304" pitchFamily="18" charset="0"/>
                <a:ea typeface="+mn-lt"/>
                <a:cs typeface="Times New Roman" panose="02020603050405020304" pitchFamily="18" charset="0"/>
              </a:rPr>
              <a:t> </a:t>
            </a:r>
            <a:r>
              <a:rPr lang="en-US" sz="2400" dirty="0"/>
              <a:t>Develop an AI-powered agent that continuously monitors chronic diseases by analyzing data from wearables, medical records, and patient inputs. It provides real-time alerts, personalized health insights, medication reminders, and lifestyle recommendations for conditions like diabetes, hypertension, and heart diseases.</a:t>
            </a:r>
            <a:br>
              <a:rPr lang="en-US" sz="2300" dirty="0">
                <a:latin typeface="Calibri"/>
                <a:ea typeface="Calibri"/>
                <a:cs typeface="Calibri"/>
              </a:rPr>
            </a:br>
            <a:endParaRPr lang="en-US" sz="2300" dirty="0">
              <a:solidFill>
                <a:srgbClr val="404040"/>
              </a:solidFill>
              <a:latin typeface="Calibri"/>
              <a:ea typeface="Calibri"/>
              <a:cs typeface="Calibri"/>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392933" y="1307274"/>
            <a:ext cx="11029616" cy="530296"/>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Technology  used</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1167812" y="1114272"/>
            <a:ext cx="11613485" cy="5563973"/>
          </a:xfrm>
        </p:spPr>
        <p:txBody>
          <a:bodyPr vert="horz" lIns="91440" tIns="45720" rIns="91440" bIns="45720" rtlCol="0" anchor="ctr">
            <a:noAutofit/>
          </a:bodyPr>
          <a:lstStyle/>
          <a:p>
            <a:pPr marL="0" indent="0">
              <a:buNone/>
            </a:pPr>
            <a:r>
              <a:rPr lang="en-US" sz="2800" dirty="0">
                <a:solidFill>
                  <a:srgbClr val="000000"/>
                </a:solidFill>
                <a:latin typeface="Calibri"/>
                <a:ea typeface="Calibri"/>
                <a:cs typeface="Calibri"/>
              </a:rPr>
              <a:t>IBM cloud lite services</a:t>
            </a:r>
          </a:p>
          <a:p>
            <a:pPr marL="0" indent="0">
              <a:buNone/>
            </a:pPr>
            <a:r>
              <a:rPr lang="en-US" sz="2800" dirty="0">
                <a:solidFill>
                  <a:srgbClr val="000000"/>
                </a:solidFill>
                <a:latin typeface="Calibri"/>
                <a:ea typeface="Calibri"/>
                <a:cs typeface="Calibri"/>
              </a:rPr>
              <a:t>Natural Language Processing (NLP)</a:t>
            </a:r>
          </a:p>
          <a:p>
            <a:pPr marL="0" indent="0">
              <a:buNone/>
            </a:pPr>
            <a:r>
              <a:rPr lang="en-US" sz="2800" dirty="0">
                <a:solidFill>
                  <a:srgbClr val="000000"/>
                </a:solidFill>
                <a:latin typeface="Calibri"/>
                <a:ea typeface="Calibri"/>
                <a:cs typeface="Calibri"/>
              </a:rPr>
              <a:t>Vector Indexing</a:t>
            </a:r>
          </a:p>
          <a:p>
            <a:pPr marL="0" indent="0">
              <a:buNone/>
            </a:pPr>
            <a:r>
              <a:rPr lang="en-US" sz="2800" dirty="0">
                <a:solidFill>
                  <a:srgbClr val="000000"/>
                </a:solidFill>
                <a:latin typeface="Calibri"/>
                <a:ea typeface="Calibri"/>
                <a:cs typeface="Calibri"/>
              </a:rPr>
              <a:t>Artificial Intelligence</a:t>
            </a:r>
          </a:p>
          <a:p>
            <a:pPr marL="0" indent="0">
              <a:buNone/>
            </a:pPr>
            <a:r>
              <a:rPr lang="en-US" sz="2800" dirty="0">
                <a:solidFill>
                  <a:srgbClr val="000000"/>
                </a:solidFill>
                <a:latin typeface="Calibri"/>
                <a:ea typeface="Calibri"/>
                <a:cs typeface="Calibri"/>
              </a:rPr>
              <a:t>IBM Granite model</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80B2B-5B8A-2798-A127-FAFC2D527010}"/>
              </a:ext>
            </a:extLst>
          </p:cNvPr>
          <p:cNvSpPr>
            <a:spLocks noGrp="1"/>
          </p:cNvSpPr>
          <p:nvPr>
            <p:ph type="title"/>
          </p:nvPr>
        </p:nvSpPr>
        <p:spPr>
          <a:xfrm>
            <a:off x="473615" y="1036878"/>
            <a:ext cx="11029616" cy="530296"/>
          </a:xfrm>
        </p:spPr>
        <p:txBody>
          <a:bodyPr/>
          <a:lstStyle/>
          <a:p>
            <a:r>
              <a:rPr lang="en-IN" dirty="0">
                <a:solidFill>
                  <a:schemeClr val="accent1"/>
                </a:solidFill>
              </a:rPr>
              <a:t>IBM cloud services used</a:t>
            </a:r>
          </a:p>
        </p:txBody>
      </p:sp>
      <p:sp>
        <p:nvSpPr>
          <p:cNvPr id="3" name="Content Placeholder 2">
            <a:extLst>
              <a:ext uri="{FF2B5EF4-FFF2-40B4-BE49-F238E27FC236}">
                <a16:creationId xmlns:a16="http://schemas.microsoft.com/office/drawing/2014/main" id="{40B9234A-56AB-47BB-E0BD-725AF6684B23}"/>
              </a:ext>
            </a:extLst>
          </p:cNvPr>
          <p:cNvSpPr>
            <a:spLocks noGrp="1"/>
          </p:cNvSpPr>
          <p:nvPr>
            <p:ph idx="1"/>
          </p:nvPr>
        </p:nvSpPr>
        <p:spPr>
          <a:xfrm>
            <a:off x="863581" y="1330375"/>
            <a:ext cx="11029615" cy="4673324"/>
          </a:xfrm>
        </p:spPr>
        <p:txBody>
          <a:bodyPr>
            <a:normAutofit/>
          </a:bodyPr>
          <a:lstStyle/>
          <a:p>
            <a:pPr marL="305435" indent="-305435"/>
            <a:r>
              <a:rPr lang="en-IN" sz="2800" dirty="0"/>
              <a:t>IBM Cloud Watsonx AI Studio</a:t>
            </a:r>
          </a:p>
          <a:p>
            <a:pPr marL="305435" indent="-305435"/>
            <a:r>
              <a:rPr lang="en-IN" sz="2800" dirty="0"/>
              <a:t>IBM Cloud </a:t>
            </a:r>
            <a:r>
              <a:rPr lang="en-IN" sz="2800" dirty="0" err="1"/>
              <a:t>Watsonx</a:t>
            </a:r>
            <a:r>
              <a:rPr lang="en-IN" sz="2800" dirty="0"/>
              <a:t> AI runtime</a:t>
            </a:r>
          </a:p>
          <a:p>
            <a:pPr marL="305435" indent="-305435"/>
            <a:r>
              <a:rPr lang="en-IN" sz="2800" dirty="0"/>
              <a:t>IBM Cloud Agent Lab</a:t>
            </a:r>
          </a:p>
          <a:p>
            <a:pPr marL="305435" indent="-305435"/>
            <a:r>
              <a:rPr lang="en-IN" sz="2800" dirty="0"/>
              <a:t>IBM Granite foundation model</a:t>
            </a:r>
          </a:p>
          <a:p>
            <a:pPr marL="305435" indent="-305435"/>
            <a:r>
              <a:rPr lang="en-IN" sz="2800" dirty="0"/>
              <a:t>Cloud Object Storage</a:t>
            </a:r>
          </a:p>
        </p:txBody>
      </p:sp>
    </p:spTree>
    <p:extLst>
      <p:ext uri="{BB962C8B-B14F-4D97-AF65-F5344CB8AC3E}">
        <p14:creationId xmlns:p14="http://schemas.microsoft.com/office/powerpoint/2010/main" val="1366800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771730"/>
            <a:ext cx="11029616" cy="530296"/>
          </a:xfrm>
        </p:spPr>
        <p:txBody>
          <a:bodyPr>
            <a:noAutofit/>
          </a:bodyPr>
          <a:lstStyle/>
          <a:p>
            <a:r>
              <a:rPr lang="en-US" sz="3200" b="1" dirty="0">
                <a:solidFill>
                  <a:schemeClr val="accent1"/>
                </a:solidFill>
                <a:latin typeface="Arial"/>
                <a:ea typeface="+mj-lt"/>
                <a:cs typeface="Arial"/>
              </a:rPr>
              <a:t>Wow factors</a:t>
            </a:r>
            <a:endParaRPr lang="en-US" sz="32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fontScale="77500" lnSpcReduction="20000"/>
          </a:bodyPr>
          <a:lstStyle/>
          <a:p>
            <a:r>
              <a:rPr lang="en-US" sz="2800" dirty="0">
                <a:latin typeface="Times New Roman" panose="02020603050405020304" pitchFamily="18" charset="0"/>
                <a:cs typeface="Times New Roman" panose="02020603050405020304" pitchFamily="18" charset="0"/>
              </a:rPr>
              <a:t>This agent will revolutionize chronic disease care by enabling real-time health tracking, reducing hospital admissions, improving treatment adherence, and empowering both patients and providers through intelligent, personalized insights.</a:t>
            </a:r>
          </a:p>
          <a:p>
            <a:pPr marL="0" indent="0">
              <a:buNone/>
            </a:pPr>
            <a:r>
              <a:rPr lang="en-US" sz="2800" b="1" dirty="0">
                <a:latin typeface="Times New Roman" panose="02020603050405020304" pitchFamily="18" charset="0"/>
                <a:cs typeface="Times New Roman" panose="02020603050405020304" pitchFamily="18" charset="0"/>
              </a:rPr>
              <a:t>Unique Features:</a:t>
            </a:r>
          </a:p>
          <a:p>
            <a:r>
              <a:rPr lang="en-US" sz="2800" dirty="0">
                <a:latin typeface="Times New Roman" panose="02020603050405020304" pitchFamily="18" charset="0"/>
                <a:cs typeface="Times New Roman" panose="02020603050405020304" pitchFamily="18" charset="0"/>
              </a:rPr>
              <a:t>Continuous monitoring via wearable and health record integration</a:t>
            </a:r>
          </a:p>
          <a:p>
            <a:r>
              <a:rPr lang="en-US" sz="2800" dirty="0">
                <a:latin typeface="Times New Roman" panose="02020603050405020304" pitchFamily="18" charset="0"/>
                <a:cs typeface="Times New Roman" panose="02020603050405020304" pitchFamily="18" charset="0"/>
              </a:rPr>
              <a:t>Personalized recommendations for medication, diet, and lifestyle</a:t>
            </a:r>
          </a:p>
          <a:p>
            <a:r>
              <a:rPr lang="en-US" sz="2800" dirty="0">
                <a:latin typeface="Times New Roman" panose="02020603050405020304" pitchFamily="18" charset="0"/>
                <a:cs typeface="Times New Roman" panose="02020603050405020304" pitchFamily="18" charset="0"/>
              </a:rPr>
              <a:t>Real-time alerts for critical health deviations</a:t>
            </a:r>
          </a:p>
          <a:p>
            <a:r>
              <a:rPr lang="en-US" sz="2800" dirty="0">
                <a:latin typeface="Times New Roman" panose="02020603050405020304" pitchFamily="18" charset="0"/>
                <a:cs typeface="Times New Roman" panose="02020603050405020304" pitchFamily="18" charset="0"/>
              </a:rPr>
              <a:t>Predictive analysis for early detection of complications</a:t>
            </a:r>
          </a:p>
          <a:p>
            <a:r>
              <a:rPr lang="en-US" sz="2800" dirty="0">
                <a:latin typeface="Times New Roman" panose="02020603050405020304" pitchFamily="18" charset="0"/>
                <a:cs typeface="Times New Roman" panose="02020603050405020304" pitchFamily="18" charset="0"/>
              </a:rPr>
              <a:t>Daily symptom tracking with natural language input</a:t>
            </a:r>
          </a:p>
          <a:p>
            <a:r>
              <a:rPr lang="en-US" sz="2800" dirty="0">
                <a:latin typeface="Times New Roman" panose="02020603050405020304" pitchFamily="18" charset="0"/>
                <a:cs typeface="Times New Roman" panose="02020603050405020304" pitchFamily="18" charset="0"/>
              </a:rPr>
              <a:t>Smart reminders for medication and health check-ins</a:t>
            </a:r>
          </a:p>
          <a:p>
            <a:r>
              <a:rPr lang="en-US" sz="2800" dirty="0">
                <a:latin typeface="Times New Roman" panose="02020603050405020304" pitchFamily="18" charset="0"/>
                <a:cs typeface="Times New Roman" panose="02020603050405020304" pitchFamily="18" charset="0"/>
              </a:rPr>
              <a:t>Secure data sharing with healthcare providers for better collaboration</a:t>
            </a:r>
          </a:p>
        </p:txBody>
      </p:sp>
    </p:spTree>
    <p:extLst>
      <p:ext uri="{BB962C8B-B14F-4D97-AF65-F5344CB8AC3E}">
        <p14:creationId xmlns:p14="http://schemas.microsoft.com/office/powerpoint/2010/main"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986D-DBC5-8220-FE6F-7F2ABC7C4CEE}"/>
              </a:ext>
            </a:extLst>
          </p:cNvPr>
          <p:cNvSpPr>
            <a:spLocks noGrp="1"/>
          </p:cNvSpPr>
          <p:nvPr>
            <p:ph type="title"/>
          </p:nvPr>
        </p:nvSpPr>
        <p:spPr/>
        <p:txBody>
          <a:bodyPr/>
          <a:lstStyle/>
          <a:p>
            <a:r>
              <a:rPr lang="en-IN" dirty="0">
                <a:solidFill>
                  <a:schemeClr val="accent1"/>
                </a:solidFill>
              </a:rPr>
              <a:t>End users</a:t>
            </a:r>
          </a:p>
        </p:txBody>
      </p:sp>
      <p:sp>
        <p:nvSpPr>
          <p:cNvPr id="5" name="Rectangle 2">
            <a:extLst>
              <a:ext uri="{FF2B5EF4-FFF2-40B4-BE49-F238E27FC236}">
                <a16:creationId xmlns:a16="http://schemas.microsoft.com/office/drawing/2014/main" id="{AE725396-5A43-FD9C-37B4-BB089C559268}"/>
              </a:ext>
            </a:extLst>
          </p:cNvPr>
          <p:cNvSpPr>
            <a:spLocks noGrp="1" noChangeArrowheads="1"/>
          </p:cNvSpPr>
          <p:nvPr>
            <p:ph idx="1"/>
          </p:nvPr>
        </p:nvSpPr>
        <p:spPr bwMode="auto">
          <a:xfrm>
            <a:off x="581192" y="1868974"/>
            <a:ext cx="10862255"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00000"/>
              </a:lnSpc>
              <a:spcBef>
                <a:spcPct val="0"/>
              </a:spcBef>
              <a:spcAft>
                <a:spcPct val="0"/>
              </a:spcAft>
              <a:buClrTx/>
              <a:buSzTx/>
              <a:buFontTx/>
              <a:buChar char="•"/>
            </a:pPr>
            <a:r>
              <a:rPr kumimoji="0" lang="en-IN" altLang="ta-IN" sz="2800" b="0" i="0" u="none" strike="noStrike" cap="none" normalizeH="0" baseline="0" dirty="0">
                <a:ln>
                  <a:noFill/>
                </a:ln>
                <a:solidFill>
                  <a:schemeClr val="tx1"/>
                </a:solidFill>
                <a:effectLst/>
                <a:latin typeface="Times New Roman" panose="02020603050405020304" pitchFamily="18" charset="0"/>
              </a:rPr>
              <a:t> </a:t>
            </a:r>
            <a:r>
              <a:rPr lang="en-US" sz="2800" dirty="0"/>
              <a:t>Patients with chronic conditions (e.g., diabetes, hypertension, heart disease)</a:t>
            </a:r>
          </a:p>
          <a:p>
            <a:pPr marL="0" lvl="0" indent="0" defTabSz="914400" eaLnBrk="0" fontAlgn="base" hangingPunct="0">
              <a:lnSpc>
                <a:spcPct val="100000"/>
              </a:lnSpc>
              <a:spcBef>
                <a:spcPct val="0"/>
              </a:spcBef>
              <a:spcAft>
                <a:spcPct val="0"/>
              </a:spcAft>
              <a:buClrTx/>
              <a:buSzTx/>
              <a:buFontTx/>
              <a:buChar char="•"/>
            </a:pPr>
            <a:r>
              <a:rPr kumimoji="0" lang="en-IN" altLang="ta-IN" sz="2800" i="0" u="none" strike="noStrike" cap="none" normalizeH="0" baseline="0" dirty="0">
                <a:ln>
                  <a:noFill/>
                </a:ln>
                <a:solidFill>
                  <a:schemeClr val="tx1"/>
                </a:solidFill>
                <a:effectLst/>
                <a:latin typeface="Times New Roman" panose="02020603050405020304" pitchFamily="18" charset="0"/>
              </a:rPr>
              <a:t>Caregivers and family members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N" altLang="ta-IN" sz="2800" i="0" u="none" strike="noStrike" cap="none" normalizeH="0" baseline="0" dirty="0">
                <a:ln>
                  <a:noFill/>
                </a:ln>
                <a:solidFill>
                  <a:schemeClr val="tx1"/>
                </a:solidFill>
                <a:effectLst/>
                <a:latin typeface="Times New Roman" panose="02020603050405020304" pitchFamily="18" charset="0"/>
              </a:rPr>
              <a:t>Healthcare Providers(Doctors , </a:t>
            </a:r>
            <a:r>
              <a:rPr lang="en-IN" altLang="ta-IN" sz="2800" dirty="0">
                <a:solidFill>
                  <a:schemeClr val="tx1"/>
                </a:solidFill>
                <a:latin typeface="Times New Roman" panose="02020603050405020304" pitchFamily="18" charset="0"/>
              </a:rPr>
              <a:t>Nurses</a:t>
            </a:r>
            <a:r>
              <a:rPr kumimoji="0" lang="en-IN" altLang="ta-IN" sz="2800" i="0" u="none" strike="noStrike" cap="none" normalizeH="0" baseline="0" dirty="0">
                <a:ln>
                  <a:noFill/>
                </a:ln>
                <a:solidFill>
                  <a:schemeClr val="tx1"/>
                </a:solidFill>
                <a:effectLst/>
                <a:latin typeface="Times New Roman" panose="02020603050405020304" pitchFamily="18" charset="0"/>
              </a:rPr>
              <a:t>, Specialists)</a:t>
            </a:r>
            <a:endParaRPr lang="en-IN" altLang="ta-IN" sz="2800" dirty="0">
              <a:solidFill>
                <a:schemeClr val="tx1"/>
              </a:solidFill>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IN" altLang="ta-IN" sz="2800" dirty="0">
                <a:solidFill>
                  <a:schemeClr val="tx1"/>
                </a:solidFill>
                <a:latin typeface="Times New Roman" panose="02020603050405020304" pitchFamily="18" charset="0"/>
              </a:rPr>
              <a:t>Hospitals and Clinics</a:t>
            </a:r>
            <a:endParaRPr kumimoji="0" lang="ta-IN" altLang="ta-IN" sz="2800" i="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IN" altLang="ta-IN" sz="2800" dirty="0">
                <a:solidFill>
                  <a:schemeClr val="tx1"/>
                </a:solidFill>
                <a:latin typeface="Times New Roman" panose="02020603050405020304" pitchFamily="18" charset="0"/>
              </a:rPr>
              <a:t>Telemedicine platforms</a:t>
            </a:r>
            <a:endParaRPr kumimoji="0" lang="ta-IN" altLang="ta-IN" sz="2800" i="0" u="none" strike="noStrike" cap="none" normalizeH="0" baseline="0" dirty="0">
              <a:ln>
                <a:noFill/>
              </a:ln>
              <a:solidFill>
                <a:schemeClr val="tx1"/>
              </a:solidFill>
              <a:effectLst/>
              <a:latin typeface="Times New Roman" panose="02020603050405020304" pitchFamily="18" charset="0"/>
            </a:endParaRPr>
          </a:p>
          <a:p>
            <a:pPr marL="0" lvl="0" indent="0" defTabSz="914400" eaLnBrk="0" fontAlgn="base" hangingPunct="0">
              <a:lnSpc>
                <a:spcPct val="100000"/>
              </a:lnSpc>
              <a:spcBef>
                <a:spcPct val="0"/>
              </a:spcBef>
              <a:spcAft>
                <a:spcPct val="0"/>
              </a:spcAft>
              <a:buClrTx/>
              <a:buSzTx/>
              <a:buFontTx/>
              <a:buChar char="•"/>
            </a:pPr>
            <a:r>
              <a:rPr lang="en-IN" sz="2800" dirty="0"/>
              <a:t>Health insurance companies</a:t>
            </a:r>
          </a:p>
          <a:p>
            <a:pPr marL="0" lvl="0" indent="0" defTabSz="914400" eaLnBrk="0" fontAlgn="base" hangingPunct="0">
              <a:lnSpc>
                <a:spcPct val="100000"/>
              </a:lnSpc>
              <a:spcBef>
                <a:spcPct val="0"/>
              </a:spcBef>
              <a:spcAft>
                <a:spcPct val="0"/>
              </a:spcAft>
              <a:buClrTx/>
              <a:buSzTx/>
              <a:buFontTx/>
              <a:buChar char="•"/>
            </a:pPr>
            <a:r>
              <a:rPr lang="en-US" sz="2800" dirty="0"/>
              <a:t>Government and public health agencies</a:t>
            </a:r>
            <a:endParaRPr kumimoji="0" lang="ta-IN" altLang="ta-IN" sz="2800" b="0" i="0" u="none" strike="noStrike" cap="none" normalizeH="0" baseline="0" dirty="0">
              <a:ln>
                <a:noFill/>
              </a:ln>
              <a:solidFill>
                <a:schemeClr val="tx1"/>
              </a:solidFill>
              <a:effectLst/>
              <a:latin typeface="Times New Roman" panose="02020603050405020304" pitchFamily="18" charset="0"/>
            </a:endParaRPr>
          </a:p>
        </p:txBody>
      </p:sp>
      <p:sp>
        <p:nvSpPr>
          <p:cNvPr id="7" name="Rectangle 4">
            <a:extLst>
              <a:ext uri="{FF2B5EF4-FFF2-40B4-BE49-F238E27FC236}">
                <a16:creationId xmlns:a16="http://schemas.microsoft.com/office/drawing/2014/main" id="{97967C64-891D-21C3-DB6A-04AC267FF5B1}"/>
              </a:ext>
            </a:extLst>
          </p:cNvPr>
          <p:cNvSpPr>
            <a:spLocks noChangeArrowheads="1"/>
          </p:cNvSpPr>
          <p:nvPr/>
        </p:nvSpPr>
        <p:spPr bwMode="auto">
          <a:xfrm>
            <a:off x="152400" y="-1707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ta-IN" altLang="ta-I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a-IN" altLang="ta-I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19043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32F0A-9D83-B256-3E61-FD54AA26E1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410C9-747C-0C4D-FAD7-77167E836569}"/>
              </a:ext>
            </a:extLst>
          </p:cNvPr>
          <p:cNvSpPr>
            <a:spLocks noGrp="1"/>
          </p:cNvSpPr>
          <p:nvPr>
            <p:ph type="title"/>
          </p:nvPr>
        </p:nvSpPr>
        <p:spPr/>
        <p:txBody>
          <a:bodyPr/>
          <a:lstStyle/>
          <a:p>
            <a:r>
              <a:rPr lang="en-IN" dirty="0">
                <a:solidFill>
                  <a:schemeClr val="accent1"/>
                </a:solidFill>
              </a:rPr>
              <a:t>Results</a:t>
            </a:r>
          </a:p>
        </p:txBody>
      </p:sp>
      <p:pic>
        <p:nvPicPr>
          <p:cNvPr id="5" name="Picture 4">
            <a:extLst>
              <a:ext uri="{FF2B5EF4-FFF2-40B4-BE49-F238E27FC236}">
                <a16:creationId xmlns:a16="http://schemas.microsoft.com/office/drawing/2014/main" id="{94F28CFC-5243-C788-3A96-84A50BA5F78D}"/>
              </a:ext>
            </a:extLst>
          </p:cNvPr>
          <p:cNvPicPr>
            <a:picLocks noChangeAspect="1"/>
          </p:cNvPicPr>
          <p:nvPr/>
        </p:nvPicPr>
        <p:blipFill>
          <a:blip r:embed="rId2"/>
          <a:stretch>
            <a:fillRect/>
          </a:stretch>
        </p:blipFill>
        <p:spPr>
          <a:xfrm>
            <a:off x="442452" y="1793722"/>
            <a:ext cx="5514808" cy="3791001"/>
          </a:xfrm>
          <a:prstGeom prst="rect">
            <a:avLst/>
          </a:prstGeom>
        </p:spPr>
      </p:pic>
      <p:pic>
        <p:nvPicPr>
          <p:cNvPr id="7" name="Picture 6">
            <a:extLst>
              <a:ext uri="{FF2B5EF4-FFF2-40B4-BE49-F238E27FC236}">
                <a16:creationId xmlns:a16="http://schemas.microsoft.com/office/drawing/2014/main" id="{3D6302D4-8A29-2D9D-E84B-0F84E9EE6100}"/>
              </a:ext>
            </a:extLst>
          </p:cNvPr>
          <p:cNvPicPr>
            <a:picLocks noChangeAspect="1"/>
          </p:cNvPicPr>
          <p:nvPr/>
        </p:nvPicPr>
        <p:blipFill>
          <a:blip r:embed="rId3"/>
          <a:stretch>
            <a:fillRect/>
          </a:stretch>
        </p:blipFill>
        <p:spPr>
          <a:xfrm>
            <a:off x="6096000" y="1793721"/>
            <a:ext cx="5514808" cy="3791001"/>
          </a:xfrm>
          <a:prstGeom prst="rect">
            <a:avLst/>
          </a:prstGeom>
        </p:spPr>
      </p:pic>
      <p:sp>
        <p:nvSpPr>
          <p:cNvPr id="8" name="TextBox 7">
            <a:extLst>
              <a:ext uri="{FF2B5EF4-FFF2-40B4-BE49-F238E27FC236}">
                <a16:creationId xmlns:a16="http://schemas.microsoft.com/office/drawing/2014/main" id="{277E3024-AB69-D619-B028-441939F7E7CC}"/>
              </a:ext>
            </a:extLst>
          </p:cNvPr>
          <p:cNvSpPr txBox="1"/>
          <p:nvPr/>
        </p:nvSpPr>
        <p:spPr>
          <a:xfrm>
            <a:off x="2077092" y="5786512"/>
            <a:ext cx="2155590" cy="369332"/>
          </a:xfrm>
          <a:prstGeom prst="rect">
            <a:avLst/>
          </a:prstGeom>
          <a:noFill/>
        </p:spPr>
        <p:txBody>
          <a:bodyPr wrap="none" rtlCol="0">
            <a:spAutoFit/>
          </a:bodyPr>
          <a:lstStyle/>
          <a:p>
            <a:r>
              <a:rPr lang="en-US" dirty="0"/>
              <a:t>Using Granite Model</a:t>
            </a:r>
            <a:endParaRPr lang="ta-IN" dirty="0"/>
          </a:p>
        </p:txBody>
      </p:sp>
      <p:sp>
        <p:nvSpPr>
          <p:cNvPr id="9" name="TextBox 8">
            <a:extLst>
              <a:ext uri="{FF2B5EF4-FFF2-40B4-BE49-F238E27FC236}">
                <a16:creationId xmlns:a16="http://schemas.microsoft.com/office/drawing/2014/main" id="{EF4DEF33-48D7-3E29-44BE-748E3723B297}"/>
              </a:ext>
            </a:extLst>
          </p:cNvPr>
          <p:cNvSpPr txBox="1"/>
          <p:nvPr/>
        </p:nvSpPr>
        <p:spPr>
          <a:xfrm>
            <a:off x="7959319" y="5776659"/>
            <a:ext cx="2049920" cy="369332"/>
          </a:xfrm>
          <a:prstGeom prst="rect">
            <a:avLst/>
          </a:prstGeom>
          <a:noFill/>
        </p:spPr>
        <p:txBody>
          <a:bodyPr wrap="none" rtlCol="0">
            <a:spAutoFit/>
          </a:bodyPr>
          <a:lstStyle/>
          <a:p>
            <a:r>
              <a:rPr lang="en-US" dirty="0"/>
              <a:t>Adding Instructions</a:t>
            </a:r>
            <a:endParaRPr lang="ta-IN" dirty="0"/>
          </a:p>
        </p:txBody>
      </p:sp>
    </p:spTree>
    <p:extLst>
      <p:ext uri="{BB962C8B-B14F-4D97-AF65-F5344CB8AC3E}">
        <p14:creationId xmlns:p14="http://schemas.microsoft.com/office/powerpoint/2010/main" val="4068668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8070C-FF0D-BBE3-3D8A-C3794CCCE8A2}"/>
              </a:ext>
            </a:extLst>
          </p:cNvPr>
          <p:cNvSpPr>
            <a:spLocks noGrp="1"/>
          </p:cNvSpPr>
          <p:nvPr>
            <p:ph type="title"/>
          </p:nvPr>
        </p:nvSpPr>
        <p:spPr/>
        <p:txBody>
          <a:bodyPr/>
          <a:lstStyle/>
          <a:p>
            <a:r>
              <a:rPr lang="en-IN" dirty="0">
                <a:solidFill>
                  <a:schemeClr val="accent1"/>
                </a:solidFill>
              </a:rPr>
              <a:t>Results</a:t>
            </a:r>
          </a:p>
        </p:txBody>
      </p:sp>
      <p:pic>
        <p:nvPicPr>
          <p:cNvPr id="6" name="Content Placeholder 5">
            <a:extLst>
              <a:ext uri="{FF2B5EF4-FFF2-40B4-BE49-F238E27FC236}">
                <a16:creationId xmlns:a16="http://schemas.microsoft.com/office/drawing/2014/main" id="{7E72C2B5-2012-5BE5-031C-F3D16BAE5590}"/>
              </a:ext>
            </a:extLst>
          </p:cNvPr>
          <p:cNvPicPr>
            <a:picLocks noGrp="1" noChangeAspect="1"/>
          </p:cNvPicPr>
          <p:nvPr>
            <p:ph idx="1"/>
          </p:nvPr>
        </p:nvPicPr>
        <p:blipFill>
          <a:blip r:embed="rId2"/>
          <a:stretch>
            <a:fillRect/>
          </a:stretch>
        </p:blipFill>
        <p:spPr>
          <a:xfrm>
            <a:off x="6282813" y="1524798"/>
            <a:ext cx="5447072" cy="3627305"/>
          </a:xfrm>
        </p:spPr>
      </p:pic>
      <p:pic>
        <p:nvPicPr>
          <p:cNvPr id="8" name="Picture 7">
            <a:extLst>
              <a:ext uri="{FF2B5EF4-FFF2-40B4-BE49-F238E27FC236}">
                <a16:creationId xmlns:a16="http://schemas.microsoft.com/office/drawing/2014/main" id="{8209A8BA-C492-41DE-B6D1-0D1274ED4B7F}"/>
              </a:ext>
            </a:extLst>
          </p:cNvPr>
          <p:cNvPicPr>
            <a:picLocks noChangeAspect="1"/>
          </p:cNvPicPr>
          <p:nvPr/>
        </p:nvPicPr>
        <p:blipFill>
          <a:blip r:embed="rId3"/>
          <a:stretch>
            <a:fillRect/>
          </a:stretch>
        </p:blipFill>
        <p:spPr>
          <a:xfrm>
            <a:off x="344129" y="1524798"/>
            <a:ext cx="5683045" cy="3627305"/>
          </a:xfrm>
          <a:prstGeom prst="rect">
            <a:avLst/>
          </a:prstGeom>
        </p:spPr>
      </p:pic>
      <p:sp>
        <p:nvSpPr>
          <p:cNvPr id="10" name="TextBox 9">
            <a:extLst>
              <a:ext uri="{FF2B5EF4-FFF2-40B4-BE49-F238E27FC236}">
                <a16:creationId xmlns:a16="http://schemas.microsoft.com/office/drawing/2014/main" id="{05F49686-6772-0384-EED7-D8765935C970}"/>
              </a:ext>
            </a:extLst>
          </p:cNvPr>
          <p:cNvSpPr txBox="1"/>
          <p:nvPr/>
        </p:nvSpPr>
        <p:spPr>
          <a:xfrm>
            <a:off x="2007700" y="5503443"/>
            <a:ext cx="2355901" cy="369332"/>
          </a:xfrm>
          <a:prstGeom prst="rect">
            <a:avLst/>
          </a:prstGeom>
          <a:noFill/>
        </p:spPr>
        <p:txBody>
          <a:bodyPr wrap="none" rtlCol="0">
            <a:spAutoFit/>
          </a:bodyPr>
          <a:lstStyle/>
          <a:p>
            <a:r>
              <a:rPr lang="en-US" dirty="0"/>
              <a:t>Vectorized Documents</a:t>
            </a:r>
            <a:endParaRPr lang="ta-IN" dirty="0"/>
          </a:p>
        </p:txBody>
      </p:sp>
      <p:sp>
        <p:nvSpPr>
          <p:cNvPr id="11" name="TextBox 10">
            <a:extLst>
              <a:ext uri="{FF2B5EF4-FFF2-40B4-BE49-F238E27FC236}">
                <a16:creationId xmlns:a16="http://schemas.microsoft.com/office/drawing/2014/main" id="{15B872E4-09A4-B931-C45A-DF8E7400ED8D}"/>
              </a:ext>
            </a:extLst>
          </p:cNvPr>
          <p:cNvSpPr txBox="1"/>
          <p:nvPr/>
        </p:nvSpPr>
        <p:spPr>
          <a:xfrm>
            <a:off x="8019604" y="5503443"/>
            <a:ext cx="1973489" cy="369332"/>
          </a:xfrm>
          <a:prstGeom prst="rect">
            <a:avLst/>
          </a:prstGeom>
          <a:noFill/>
        </p:spPr>
        <p:txBody>
          <a:bodyPr wrap="none" rtlCol="0">
            <a:spAutoFit/>
          </a:bodyPr>
          <a:lstStyle/>
          <a:p>
            <a:r>
              <a:rPr lang="en-US" dirty="0"/>
              <a:t>Model Parameters</a:t>
            </a:r>
            <a:endParaRPr lang="ta-IN" dirty="0"/>
          </a:p>
        </p:txBody>
      </p:sp>
    </p:spTree>
    <p:extLst>
      <p:ext uri="{BB962C8B-B14F-4D97-AF65-F5344CB8AC3E}">
        <p14:creationId xmlns:p14="http://schemas.microsoft.com/office/powerpoint/2010/main" val="2083715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5A6D-4F49-C4EA-7213-41FFE69BE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CC324-0A49-C60C-9095-B341C383FE0B}"/>
              </a:ext>
            </a:extLst>
          </p:cNvPr>
          <p:cNvSpPr>
            <a:spLocks noGrp="1"/>
          </p:cNvSpPr>
          <p:nvPr>
            <p:ph type="title"/>
          </p:nvPr>
        </p:nvSpPr>
        <p:spPr/>
        <p:txBody>
          <a:bodyPr/>
          <a:lstStyle/>
          <a:p>
            <a:r>
              <a:rPr lang="en-IN" dirty="0">
                <a:solidFill>
                  <a:schemeClr val="accent1"/>
                </a:solidFill>
              </a:rPr>
              <a:t>Results</a:t>
            </a:r>
          </a:p>
        </p:txBody>
      </p:sp>
      <p:pic>
        <p:nvPicPr>
          <p:cNvPr id="5" name="Picture 4">
            <a:extLst>
              <a:ext uri="{FF2B5EF4-FFF2-40B4-BE49-F238E27FC236}">
                <a16:creationId xmlns:a16="http://schemas.microsoft.com/office/drawing/2014/main" id="{0DD7CBF5-5E3B-98DD-1BFC-DB20D37E3677}"/>
              </a:ext>
            </a:extLst>
          </p:cNvPr>
          <p:cNvPicPr>
            <a:picLocks noChangeAspect="1"/>
          </p:cNvPicPr>
          <p:nvPr/>
        </p:nvPicPr>
        <p:blipFill>
          <a:blip r:embed="rId2"/>
          <a:stretch>
            <a:fillRect/>
          </a:stretch>
        </p:blipFill>
        <p:spPr>
          <a:xfrm>
            <a:off x="6263148" y="1468749"/>
            <a:ext cx="5466737" cy="3919328"/>
          </a:xfrm>
          <a:prstGeom prst="rect">
            <a:avLst/>
          </a:prstGeom>
        </p:spPr>
      </p:pic>
      <p:pic>
        <p:nvPicPr>
          <p:cNvPr id="7" name="Picture 6">
            <a:extLst>
              <a:ext uri="{FF2B5EF4-FFF2-40B4-BE49-F238E27FC236}">
                <a16:creationId xmlns:a16="http://schemas.microsoft.com/office/drawing/2014/main" id="{E1888136-C900-3118-1277-69FEF94C0580}"/>
              </a:ext>
            </a:extLst>
          </p:cNvPr>
          <p:cNvPicPr>
            <a:picLocks noChangeAspect="1"/>
          </p:cNvPicPr>
          <p:nvPr/>
        </p:nvPicPr>
        <p:blipFill>
          <a:blip r:embed="rId3"/>
          <a:stretch>
            <a:fillRect/>
          </a:stretch>
        </p:blipFill>
        <p:spPr>
          <a:xfrm>
            <a:off x="383459" y="1468749"/>
            <a:ext cx="5633883" cy="3919328"/>
          </a:xfrm>
          <a:prstGeom prst="rect">
            <a:avLst/>
          </a:prstGeom>
        </p:spPr>
      </p:pic>
      <p:sp>
        <p:nvSpPr>
          <p:cNvPr id="8" name="TextBox 7">
            <a:extLst>
              <a:ext uri="{FF2B5EF4-FFF2-40B4-BE49-F238E27FC236}">
                <a16:creationId xmlns:a16="http://schemas.microsoft.com/office/drawing/2014/main" id="{8459A1AF-629B-5442-DD66-EF9E00BC3E41}"/>
              </a:ext>
            </a:extLst>
          </p:cNvPr>
          <p:cNvSpPr txBox="1"/>
          <p:nvPr/>
        </p:nvSpPr>
        <p:spPr>
          <a:xfrm>
            <a:off x="2219320" y="5687339"/>
            <a:ext cx="1698285" cy="369332"/>
          </a:xfrm>
          <a:prstGeom prst="rect">
            <a:avLst/>
          </a:prstGeom>
          <a:noFill/>
        </p:spPr>
        <p:txBody>
          <a:bodyPr wrap="none" rtlCol="0">
            <a:spAutoFit/>
          </a:bodyPr>
          <a:lstStyle/>
          <a:p>
            <a:r>
              <a:rPr lang="en-US" dirty="0"/>
              <a:t>Agent Deployed</a:t>
            </a:r>
            <a:endParaRPr lang="ta-IN" dirty="0"/>
          </a:p>
        </p:txBody>
      </p:sp>
      <p:sp>
        <p:nvSpPr>
          <p:cNvPr id="9" name="TextBox 8">
            <a:extLst>
              <a:ext uri="{FF2B5EF4-FFF2-40B4-BE49-F238E27FC236}">
                <a16:creationId xmlns:a16="http://schemas.microsoft.com/office/drawing/2014/main" id="{C9FACD3D-88A8-21D1-B3C4-F453A61EA30E}"/>
              </a:ext>
            </a:extLst>
          </p:cNvPr>
          <p:cNvSpPr txBox="1"/>
          <p:nvPr/>
        </p:nvSpPr>
        <p:spPr>
          <a:xfrm>
            <a:off x="8020351" y="5687339"/>
            <a:ext cx="1952329" cy="369332"/>
          </a:xfrm>
          <a:prstGeom prst="rect">
            <a:avLst/>
          </a:prstGeom>
          <a:noFill/>
        </p:spPr>
        <p:txBody>
          <a:bodyPr wrap="none" rtlCol="0">
            <a:spAutoFit/>
          </a:bodyPr>
          <a:lstStyle/>
          <a:p>
            <a:r>
              <a:rPr lang="en-US" dirty="0"/>
              <a:t>Sample Questions</a:t>
            </a:r>
            <a:endParaRPr lang="ta-IN" dirty="0"/>
          </a:p>
        </p:txBody>
      </p:sp>
    </p:spTree>
    <p:extLst>
      <p:ext uri="{BB962C8B-B14F-4D97-AF65-F5344CB8AC3E}">
        <p14:creationId xmlns:p14="http://schemas.microsoft.com/office/powerpoint/2010/main" val="1189541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7C739-D0DA-9B09-3DAB-C16532FC6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7292C-C6FB-E951-D59F-66CDA53E9B18}"/>
              </a:ext>
            </a:extLst>
          </p:cNvPr>
          <p:cNvSpPr>
            <a:spLocks noGrp="1"/>
          </p:cNvSpPr>
          <p:nvPr>
            <p:ph type="title"/>
          </p:nvPr>
        </p:nvSpPr>
        <p:spPr/>
        <p:txBody>
          <a:bodyPr/>
          <a:lstStyle/>
          <a:p>
            <a:r>
              <a:rPr lang="en-IN" dirty="0">
                <a:solidFill>
                  <a:schemeClr val="accent1"/>
                </a:solidFill>
              </a:rPr>
              <a:t>Results</a:t>
            </a:r>
          </a:p>
        </p:txBody>
      </p:sp>
      <p:pic>
        <p:nvPicPr>
          <p:cNvPr id="6" name="Picture 5">
            <a:extLst>
              <a:ext uri="{FF2B5EF4-FFF2-40B4-BE49-F238E27FC236}">
                <a16:creationId xmlns:a16="http://schemas.microsoft.com/office/drawing/2014/main" id="{46F9E472-5DE8-5A01-A443-E06018AFDF9B}"/>
              </a:ext>
            </a:extLst>
          </p:cNvPr>
          <p:cNvPicPr>
            <a:picLocks noChangeAspect="1"/>
          </p:cNvPicPr>
          <p:nvPr/>
        </p:nvPicPr>
        <p:blipFill>
          <a:blip r:embed="rId2"/>
          <a:srcRect l="12248" t="1" r="13833" b="-1"/>
          <a:stretch>
            <a:fillRect/>
          </a:stretch>
        </p:blipFill>
        <p:spPr>
          <a:xfrm>
            <a:off x="284260" y="1789423"/>
            <a:ext cx="5939559" cy="3537878"/>
          </a:xfrm>
          <a:prstGeom prst="rect">
            <a:avLst/>
          </a:prstGeom>
        </p:spPr>
      </p:pic>
      <p:pic>
        <p:nvPicPr>
          <p:cNvPr id="8" name="Picture 7">
            <a:extLst>
              <a:ext uri="{FF2B5EF4-FFF2-40B4-BE49-F238E27FC236}">
                <a16:creationId xmlns:a16="http://schemas.microsoft.com/office/drawing/2014/main" id="{A98BCFC2-252B-575A-0DC9-EE6B3093370D}"/>
              </a:ext>
            </a:extLst>
          </p:cNvPr>
          <p:cNvPicPr>
            <a:picLocks noChangeAspect="1"/>
          </p:cNvPicPr>
          <p:nvPr/>
        </p:nvPicPr>
        <p:blipFill>
          <a:blip r:embed="rId3"/>
          <a:srcRect l="10403" r="14949"/>
          <a:stretch>
            <a:fillRect/>
          </a:stretch>
        </p:blipFill>
        <p:spPr>
          <a:xfrm>
            <a:off x="6498247" y="2013781"/>
            <a:ext cx="4916129" cy="3313520"/>
          </a:xfrm>
          <a:prstGeom prst="rect">
            <a:avLst/>
          </a:prstGeom>
        </p:spPr>
      </p:pic>
      <p:sp>
        <p:nvSpPr>
          <p:cNvPr id="9" name="TextBox 8">
            <a:extLst>
              <a:ext uri="{FF2B5EF4-FFF2-40B4-BE49-F238E27FC236}">
                <a16:creationId xmlns:a16="http://schemas.microsoft.com/office/drawing/2014/main" id="{2DFB3AB5-0E6E-76CB-2478-906E02D82947}"/>
              </a:ext>
            </a:extLst>
          </p:cNvPr>
          <p:cNvSpPr txBox="1"/>
          <p:nvPr/>
        </p:nvSpPr>
        <p:spPr>
          <a:xfrm>
            <a:off x="943239" y="5514940"/>
            <a:ext cx="4621600" cy="369332"/>
          </a:xfrm>
          <a:prstGeom prst="rect">
            <a:avLst/>
          </a:prstGeom>
          <a:noFill/>
        </p:spPr>
        <p:txBody>
          <a:bodyPr wrap="square" rtlCol="0">
            <a:spAutoFit/>
          </a:bodyPr>
          <a:lstStyle/>
          <a:p>
            <a:r>
              <a:rPr lang="en-US" dirty="0"/>
              <a:t>Answer Generated For Sample Question</a:t>
            </a:r>
            <a:endParaRPr lang="ta-IN" dirty="0"/>
          </a:p>
        </p:txBody>
      </p:sp>
      <p:sp>
        <p:nvSpPr>
          <p:cNvPr id="10" name="TextBox 9">
            <a:extLst>
              <a:ext uri="{FF2B5EF4-FFF2-40B4-BE49-F238E27FC236}">
                <a16:creationId xmlns:a16="http://schemas.microsoft.com/office/drawing/2014/main" id="{BBFC054F-7377-2A6D-7507-6A08F7493097}"/>
              </a:ext>
            </a:extLst>
          </p:cNvPr>
          <p:cNvSpPr txBox="1"/>
          <p:nvPr/>
        </p:nvSpPr>
        <p:spPr>
          <a:xfrm>
            <a:off x="6688730" y="5514940"/>
            <a:ext cx="4560031" cy="369332"/>
          </a:xfrm>
          <a:prstGeom prst="rect">
            <a:avLst/>
          </a:prstGeom>
          <a:noFill/>
        </p:spPr>
        <p:txBody>
          <a:bodyPr wrap="none" rtlCol="0">
            <a:spAutoFit/>
          </a:bodyPr>
          <a:lstStyle/>
          <a:p>
            <a:r>
              <a:rPr lang="en-US" dirty="0"/>
              <a:t>Customized User Input and Generated Result</a:t>
            </a:r>
            <a:endParaRPr lang="ta-IN" dirty="0"/>
          </a:p>
        </p:txBody>
      </p:sp>
    </p:spTree>
    <p:extLst>
      <p:ext uri="{BB962C8B-B14F-4D97-AF65-F5344CB8AC3E}">
        <p14:creationId xmlns:p14="http://schemas.microsoft.com/office/powerpoint/2010/main" val="1126302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C6B3D-1072-C2D2-EBFE-E33CABE394D1}"/>
              </a:ext>
            </a:extLst>
          </p:cNvPr>
          <p:cNvSpPr>
            <a:spLocks noGrp="1"/>
          </p:cNvSpPr>
          <p:nvPr>
            <p:ph type="title"/>
          </p:nvPr>
        </p:nvSpPr>
        <p:spPr>
          <a:xfrm>
            <a:off x="433274" y="1036878"/>
            <a:ext cx="11029616" cy="530296"/>
          </a:xfrm>
        </p:spPr>
        <p:txBody>
          <a:bodyPr/>
          <a:lstStyle/>
          <a:p>
            <a:r>
              <a:rPr lang="en-IN" dirty="0">
                <a:solidFill>
                  <a:schemeClr val="accent1"/>
                </a:solidFill>
              </a:rPr>
              <a:t>Conclusion</a:t>
            </a:r>
          </a:p>
        </p:txBody>
      </p:sp>
      <p:sp>
        <p:nvSpPr>
          <p:cNvPr id="3" name="Content Placeholder 2">
            <a:extLst>
              <a:ext uri="{FF2B5EF4-FFF2-40B4-BE49-F238E27FC236}">
                <a16:creationId xmlns:a16="http://schemas.microsoft.com/office/drawing/2014/main" id="{D4974547-DF1B-77BB-E545-9344EDB9AD3F}"/>
              </a:ext>
            </a:extLst>
          </p:cNvPr>
          <p:cNvSpPr>
            <a:spLocks noGrp="1"/>
          </p:cNvSpPr>
          <p:nvPr>
            <p:ph idx="1"/>
          </p:nvPr>
        </p:nvSpPr>
        <p:spPr/>
        <p:txBody>
          <a:bodyPr>
            <a:normAutofit/>
          </a:bodyPr>
          <a:lstStyle/>
          <a:p>
            <a:pPr>
              <a:buFont typeface="Wingdings" panose="05000000000000000000" pitchFamily="2" charset="2"/>
              <a:buChar char="v"/>
            </a:pPr>
            <a:r>
              <a:rPr lang="en-US" sz="2400" dirty="0">
                <a:latin typeface="Times New Roman "/>
              </a:rPr>
              <a:t>The agent delivers personalized insights, monitors patient vitals in real-time, and provides timely alerts to prevent complications.</a:t>
            </a:r>
          </a:p>
          <a:p>
            <a:pPr>
              <a:buFont typeface="Wingdings" panose="05000000000000000000" pitchFamily="2" charset="2"/>
              <a:buChar char="v"/>
            </a:pPr>
            <a:r>
              <a:rPr lang="en-US" sz="2400" dirty="0">
                <a:latin typeface="Times New Roman "/>
              </a:rPr>
              <a:t>It enhances chronic care by automating follow-ups, managing health data, and supporting informed clinical decisions.</a:t>
            </a:r>
          </a:p>
          <a:p>
            <a:pPr>
              <a:buFont typeface="Wingdings" panose="05000000000000000000" pitchFamily="2" charset="2"/>
              <a:buChar char="v"/>
            </a:pPr>
            <a:r>
              <a:rPr lang="en-US" sz="2400" dirty="0">
                <a:latin typeface="Times New Roman "/>
              </a:rPr>
              <a:t>Health AI agents boost efficiency, adherence, and proactive care across both individual and institutional healthcare systems.</a:t>
            </a:r>
            <a:endParaRPr lang="en-US" sz="2400" dirty="0">
              <a:latin typeface="Times New Roman "/>
              <a:ea typeface="Calibri"/>
              <a:cs typeface="Calibri"/>
            </a:endParaRPr>
          </a:p>
        </p:txBody>
      </p:sp>
    </p:spTree>
    <p:extLst>
      <p:ext uri="{BB962C8B-B14F-4D97-AF65-F5344CB8AC3E}">
        <p14:creationId xmlns:p14="http://schemas.microsoft.com/office/powerpoint/2010/main" val="4233882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F08C-D61F-627D-C4E5-397E3E84FC45}"/>
              </a:ext>
            </a:extLst>
          </p:cNvPr>
          <p:cNvSpPr>
            <a:spLocks noGrp="1"/>
          </p:cNvSpPr>
          <p:nvPr>
            <p:ph type="title"/>
          </p:nvPr>
        </p:nvSpPr>
        <p:spPr/>
        <p:txBody>
          <a:bodyPr/>
          <a:lstStyle/>
          <a:p>
            <a:r>
              <a:rPr lang="en-IN" dirty="0">
                <a:solidFill>
                  <a:schemeClr val="accent1"/>
                </a:solidFill>
              </a:rPr>
              <a:t>GitHub Link</a:t>
            </a:r>
          </a:p>
        </p:txBody>
      </p:sp>
      <p:sp>
        <p:nvSpPr>
          <p:cNvPr id="3" name="Content Placeholder 2">
            <a:extLst>
              <a:ext uri="{FF2B5EF4-FFF2-40B4-BE49-F238E27FC236}">
                <a16:creationId xmlns:a16="http://schemas.microsoft.com/office/drawing/2014/main" id="{51A299DD-46FA-7866-41D8-C1BFCC2F69DD}"/>
              </a:ext>
            </a:extLst>
          </p:cNvPr>
          <p:cNvSpPr>
            <a:spLocks noGrp="1"/>
          </p:cNvSpPr>
          <p:nvPr>
            <p:ph idx="1"/>
          </p:nvPr>
        </p:nvSpPr>
        <p:spPr>
          <a:xfrm>
            <a:off x="581192" y="2133600"/>
            <a:ext cx="10657078" cy="1845802"/>
          </a:xfrm>
        </p:spPr>
        <p:txBody>
          <a:bodyPr>
            <a:normAutofit/>
          </a:bodyPr>
          <a:lstStyle/>
          <a:p>
            <a:pPr marL="0" indent="0">
              <a:buNone/>
            </a:pPr>
            <a:r>
              <a:rPr lang="en-IN" sz="3200" dirty="0"/>
              <a:t>LINK : </a:t>
            </a:r>
            <a:r>
              <a:rPr lang="en-IN" sz="3200" dirty="0">
                <a:hlinkClick r:id="rId2"/>
              </a:rPr>
              <a:t>https://github.com/ABISHEK-S-15/edunet-intern.git</a:t>
            </a:r>
            <a:endParaRPr lang="en-IN" sz="3200" dirty="0"/>
          </a:p>
        </p:txBody>
      </p:sp>
    </p:spTree>
    <p:extLst>
      <p:ext uri="{BB962C8B-B14F-4D97-AF65-F5344CB8AC3E}">
        <p14:creationId xmlns:p14="http://schemas.microsoft.com/office/powerpoint/2010/main" val="2230664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745525" y="1436330"/>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2">
            <a:extLst>
              <a:ext uri="{FF2B5EF4-FFF2-40B4-BE49-F238E27FC236}">
                <a16:creationId xmlns:a16="http://schemas.microsoft.com/office/drawing/2014/main" id="{4DB11710-96C6-9516-1588-222B3AECDEDA}"/>
              </a:ext>
            </a:extLst>
          </p:cNvPr>
          <p:cNvSpPr>
            <a:spLocks noGrp="1" noChangeArrowheads="1"/>
          </p:cNvSpPr>
          <p:nvPr>
            <p:ph idx="1"/>
          </p:nvPr>
        </p:nvSpPr>
        <p:spPr bwMode="auto">
          <a:xfrm>
            <a:off x="745525" y="2313127"/>
            <a:ext cx="1074123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00000"/>
              </a:lnSpc>
              <a:spcBef>
                <a:spcPct val="0"/>
              </a:spcBef>
              <a:spcAft>
                <a:spcPct val="0"/>
              </a:spcAft>
              <a:buClrTx/>
              <a:buSzTx/>
              <a:buFontTx/>
              <a:buChar char="•"/>
            </a:pPr>
            <a:r>
              <a:rPr kumimoji="0" lang="en-US" altLang="ta-IN" sz="2800" i="0" u="none" strike="noStrike" cap="none" normalizeH="0" baseline="0" dirty="0">
                <a:ln>
                  <a:noFill/>
                </a:ln>
                <a:solidFill>
                  <a:schemeClr val="tx1"/>
                </a:solidFill>
                <a:effectLst/>
                <a:latin typeface="Times New Roman "/>
              </a:rPr>
              <a:t> </a:t>
            </a:r>
            <a:r>
              <a:rPr kumimoji="0" lang="ta-IN" altLang="ta-IN" sz="2800" i="0" u="none" strike="noStrike" cap="none" normalizeH="0" baseline="0" dirty="0">
                <a:ln>
                  <a:noFill/>
                </a:ln>
                <a:solidFill>
                  <a:schemeClr val="tx1"/>
                </a:solidFill>
                <a:effectLst/>
                <a:latin typeface="Times New Roman "/>
              </a:rPr>
              <a:t>M</a:t>
            </a:r>
            <a:r>
              <a:rPr lang="en-US" sz="2800" dirty="0" err="1">
                <a:latin typeface="Times New Roman "/>
              </a:rPr>
              <a:t>ultilingual</a:t>
            </a:r>
            <a:r>
              <a:rPr lang="en-US" sz="2800" dirty="0">
                <a:latin typeface="Times New Roman "/>
              </a:rPr>
              <a:t> Health Support for regional and global accessibility</a:t>
            </a:r>
            <a:endParaRPr lang="en-US" sz="2800" dirty="0">
              <a:solidFill>
                <a:schemeClr val="tx1"/>
              </a:solidFill>
              <a:latin typeface="Times New Roman "/>
            </a:endParaRPr>
          </a:p>
          <a:p>
            <a:pPr marL="0" lvl="0" indent="0" defTabSz="914400" eaLnBrk="0" fontAlgn="base" hangingPunct="0">
              <a:lnSpc>
                <a:spcPct val="100000"/>
              </a:lnSpc>
              <a:spcBef>
                <a:spcPct val="0"/>
              </a:spcBef>
              <a:spcAft>
                <a:spcPct val="0"/>
              </a:spcAft>
              <a:buClrTx/>
              <a:buSzTx/>
              <a:buFontTx/>
              <a:buChar char="•"/>
            </a:pPr>
            <a:r>
              <a:rPr kumimoji="0" lang="en-US" altLang="ta-IN" sz="2800" i="0" u="none" strike="noStrike" cap="none" normalizeH="0" baseline="0" dirty="0">
                <a:ln>
                  <a:noFill/>
                </a:ln>
                <a:solidFill>
                  <a:schemeClr val="tx1"/>
                </a:solidFill>
                <a:effectLst/>
                <a:latin typeface="Times New Roman "/>
              </a:rPr>
              <a:t> </a:t>
            </a:r>
            <a:r>
              <a:rPr kumimoji="0" lang="ta-IN" altLang="ta-IN" sz="2800" i="0" u="none" strike="noStrike" cap="none" normalizeH="0" baseline="0" dirty="0">
                <a:ln>
                  <a:noFill/>
                </a:ln>
                <a:solidFill>
                  <a:schemeClr val="tx1"/>
                </a:solidFill>
                <a:effectLst/>
                <a:latin typeface="Times New Roman "/>
              </a:rPr>
              <a:t>V</a:t>
            </a:r>
            <a:r>
              <a:rPr lang="en-US" sz="2800" dirty="0" err="1">
                <a:latin typeface="Times New Roman "/>
              </a:rPr>
              <a:t>oice</a:t>
            </a:r>
            <a:r>
              <a:rPr lang="en-US" sz="2800" dirty="0">
                <a:latin typeface="Times New Roman "/>
              </a:rPr>
              <a:t> – Enabled Health Interaction for elderly and visually impaired patients</a:t>
            </a:r>
            <a:r>
              <a:rPr kumimoji="0" lang="en-US" altLang="ta-IN" sz="2800" i="0" u="none" strike="noStrike" cap="none" normalizeH="0" baseline="0" dirty="0">
                <a:ln>
                  <a:noFill/>
                </a:ln>
                <a:solidFill>
                  <a:schemeClr val="tx1"/>
                </a:solidFill>
                <a:effectLst/>
                <a:latin typeface="Times New Roman "/>
              </a:rPr>
              <a:t> </a:t>
            </a:r>
          </a:p>
          <a:p>
            <a:pPr marL="0" lvl="0" indent="0" defTabSz="914400" eaLnBrk="0" fontAlgn="base" hangingPunct="0">
              <a:lnSpc>
                <a:spcPct val="100000"/>
              </a:lnSpc>
              <a:spcBef>
                <a:spcPct val="0"/>
              </a:spcBef>
              <a:spcAft>
                <a:spcPct val="0"/>
              </a:spcAft>
              <a:buClrTx/>
              <a:buSzTx/>
              <a:buFontTx/>
              <a:buChar char="•"/>
            </a:pPr>
            <a:r>
              <a:rPr kumimoji="0" lang="en-US" altLang="ta-IN" sz="2800" i="0" u="none" strike="noStrike" cap="none" normalizeH="0" baseline="0" dirty="0">
                <a:ln>
                  <a:noFill/>
                </a:ln>
                <a:solidFill>
                  <a:schemeClr val="tx1"/>
                </a:solidFill>
                <a:effectLst/>
                <a:latin typeface="Times New Roman "/>
              </a:rPr>
              <a:t> </a:t>
            </a:r>
            <a:r>
              <a:rPr lang="en-US" sz="2800" dirty="0">
                <a:latin typeface="Times New Roman "/>
              </a:rPr>
              <a:t>Real-Time Caregiver Collaboration and shared dashboards</a:t>
            </a:r>
          </a:p>
          <a:p>
            <a:pPr marL="0" lvl="0" indent="0" defTabSz="914400" eaLnBrk="0" fontAlgn="base" hangingPunct="0">
              <a:lnSpc>
                <a:spcPct val="100000"/>
              </a:lnSpc>
              <a:spcBef>
                <a:spcPct val="0"/>
              </a:spcBef>
              <a:spcAft>
                <a:spcPct val="0"/>
              </a:spcAft>
              <a:buClrTx/>
              <a:buSzTx/>
              <a:buFontTx/>
              <a:buChar char="•"/>
            </a:pPr>
            <a:r>
              <a:rPr kumimoji="0" lang="en-US" altLang="ta-IN" sz="2800" i="0" u="none" strike="noStrike" cap="none" normalizeH="0" baseline="0" dirty="0">
                <a:ln>
                  <a:noFill/>
                </a:ln>
                <a:solidFill>
                  <a:schemeClr val="tx1"/>
                </a:solidFill>
                <a:effectLst/>
                <a:latin typeface="Times New Roman "/>
              </a:rPr>
              <a:t> </a:t>
            </a:r>
            <a:r>
              <a:rPr lang="en-US" sz="2800" dirty="0">
                <a:latin typeface="Times New Roman "/>
              </a:rPr>
              <a:t>Predictive Risk Modeling for emerging comorbidities</a:t>
            </a:r>
          </a:p>
          <a:p>
            <a:pPr marL="0" lvl="0" indent="0" defTabSz="914400" eaLnBrk="0" fontAlgn="base" hangingPunct="0">
              <a:lnSpc>
                <a:spcPct val="100000"/>
              </a:lnSpc>
              <a:spcBef>
                <a:spcPct val="0"/>
              </a:spcBef>
              <a:spcAft>
                <a:spcPct val="0"/>
              </a:spcAft>
              <a:buClrTx/>
              <a:buSzTx/>
              <a:buFontTx/>
              <a:buChar char="•"/>
            </a:pPr>
            <a:r>
              <a:rPr lang="en-US" sz="2800" dirty="0">
                <a:latin typeface="Times New Roman "/>
              </a:rPr>
              <a:t>Integration with Telemedicine and HER Systems</a:t>
            </a:r>
          </a:p>
          <a:p>
            <a:pPr marL="0" lvl="0" indent="0" defTabSz="914400" eaLnBrk="0" fontAlgn="base" hangingPunct="0">
              <a:lnSpc>
                <a:spcPct val="100000"/>
              </a:lnSpc>
              <a:spcBef>
                <a:spcPct val="0"/>
              </a:spcBef>
              <a:spcAft>
                <a:spcPct val="0"/>
              </a:spcAft>
              <a:buClrTx/>
              <a:buSzTx/>
              <a:buFontTx/>
              <a:buChar char="•"/>
            </a:pPr>
            <a:r>
              <a:rPr kumimoji="0" lang="en-US" altLang="ta-IN" sz="2800" i="0" u="none" strike="noStrike" cap="none" normalizeH="0" baseline="0" dirty="0">
                <a:ln>
                  <a:noFill/>
                </a:ln>
                <a:solidFill>
                  <a:schemeClr val="tx1"/>
                </a:solidFill>
                <a:effectLst/>
                <a:latin typeface="Times New Roman "/>
              </a:rPr>
              <a:t> </a:t>
            </a:r>
            <a:r>
              <a:rPr lang="en-US" sz="2800" dirty="0">
                <a:latin typeface="Times New Roman "/>
              </a:rPr>
              <a:t>AI-Assisted Report Generation for clinicians and insurance claims</a:t>
            </a:r>
            <a:endParaRPr kumimoji="0" lang="ta-IN" altLang="ta-IN" sz="2800" i="0" u="none" strike="noStrike" cap="none" normalizeH="0" baseline="0" dirty="0">
              <a:ln>
                <a:noFill/>
              </a:ln>
              <a:solidFill>
                <a:schemeClr val="tx1"/>
              </a:solidFill>
              <a:effectLst/>
              <a:latin typeface="Times New Roman "/>
            </a:endParaRPr>
          </a:p>
        </p:txBody>
      </p:sp>
      <p:sp>
        <p:nvSpPr>
          <p:cNvPr id="12" name="Rectangle 9">
            <a:extLst>
              <a:ext uri="{FF2B5EF4-FFF2-40B4-BE49-F238E27FC236}">
                <a16:creationId xmlns:a16="http://schemas.microsoft.com/office/drawing/2014/main" id="{9107174D-48DE-95AD-6A99-31157D45B0D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a-IN" altLang="ta-IN" sz="1800" b="0" i="0" u="none" strike="noStrike" cap="none" normalizeH="0" baseline="0">
                <a:ln>
                  <a:noFill/>
                </a:ln>
                <a:solidFill>
                  <a:schemeClr val="tx1"/>
                </a:solidFill>
                <a:effectLst/>
                <a:latin typeface="Arial" panose="020B0604020202020204" pitchFamily="34" charset="0"/>
              </a:rPr>
              <a:t>Integration with Telemedicine and EHR systems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a-IN" altLang="ta-I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4882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2E52-0C9E-7CCC-47E8-5C4711AD23FE}"/>
              </a:ext>
            </a:extLst>
          </p:cNvPr>
          <p:cNvSpPr>
            <a:spLocks noGrp="1"/>
          </p:cNvSpPr>
          <p:nvPr>
            <p:ph type="title"/>
          </p:nvPr>
        </p:nvSpPr>
        <p:spPr/>
        <p:txBody>
          <a:bodyPr/>
          <a:lstStyle/>
          <a:p>
            <a:r>
              <a:rPr lang="en-IN" dirty="0">
                <a:solidFill>
                  <a:schemeClr val="accent1"/>
                </a:solidFill>
              </a:rPr>
              <a:t>IBM Certifications</a:t>
            </a:r>
          </a:p>
        </p:txBody>
      </p:sp>
      <p:pic>
        <p:nvPicPr>
          <p:cNvPr id="5" name="Content Placeholder 4">
            <a:extLst>
              <a:ext uri="{FF2B5EF4-FFF2-40B4-BE49-F238E27FC236}">
                <a16:creationId xmlns:a16="http://schemas.microsoft.com/office/drawing/2014/main" id="{F33C5898-230C-1414-A375-538A79964219}"/>
              </a:ext>
            </a:extLst>
          </p:cNvPr>
          <p:cNvPicPr>
            <a:picLocks noGrp="1" noChangeAspect="1"/>
          </p:cNvPicPr>
          <p:nvPr>
            <p:ph idx="1"/>
          </p:nvPr>
        </p:nvPicPr>
        <p:blipFill>
          <a:blip r:embed="rId2"/>
          <a:stretch>
            <a:fillRect/>
          </a:stretch>
        </p:blipFill>
        <p:spPr>
          <a:xfrm>
            <a:off x="2804960" y="1306361"/>
            <a:ext cx="6398033" cy="4957638"/>
          </a:xfrm>
        </p:spPr>
      </p:pic>
    </p:spTree>
    <p:extLst>
      <p:ext uri="{BB962C8B-B14F-4D97-AF65-F5344CB8AC3E}">
        <p14:creationId xmlns:p14="http://schemas.microsoft.com/office/powerpoint/2010/main" val="384733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C3FD28-D3B9-DE11-167E-6B00708E80A8}"/>
              </a:ext>
            </a:extLst>
          </p:cNvPr>
          <p:cNvPicPr>
            <a:picLocks noChangeAspect="1"/>
          </p:cNvPicPr>
          <p:nvPr/>
        </p:nvPicPr>
        <p:blipFill>
          <a:blip r:embed="rId2"/>
          <a:stretch>
            <a:fillRect/>
          </a:stretch>
        </p:blipFill>
        <p:spPr>
          <a:xfrm>
            <a:off x="1541882" y="714738"/>
            <a:ext cx="9263770" cy="5695429"/>
          </a:xfrm>
          <a:prstGeom prst="rect">
            <a:avLst/>
          </a:prstGeom>
        </p:spPr>
      </p:pic>
    </p:spTree>
    <p:extLst>
      <p:ext uri="{BB962C8B-B14F-4D97-AF65-F5344CB8AC3E}">
        <p14:creationId xmlns:p14="http://schemas.microsoft.com/office/powerpoint/2010/main" val="1406661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1DB51-D0C0-23AF-C325-8538A5544FB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23625D2-9CA0-6BF0-1123-F51080DC17CE}"/>
              </a:ext>
            </a:extLst>
          </p:cNvPr>
          <p:cNvPicPr>
            <a:picLocks noChangeAspect="1"/>
          </p:cNvPicPr>
          <p:nvPr/>
        </p:nvPicPr>
        <p:blipFill>
          <a:blip r:embed="rId2"/>
          <a:stretch>
            <a:fillRect/>
          </a:stretch>
        </p:blipFill>
        <p:spPr>
          <a:xfrm>
            <a:off x="2297101" y="768137"/>
            <a:ext cx="7597798" cy="5852667"/>
          </a:xfrm>
          <a:prstGeom prst="rect">
            <a:avLst/>
          </a:prstGeom>
        </p:spPr>
      </p:pic>
    </p:spTree>
    <p:extLst>
      <p:ext uri="{BB962C8B-B14F-4D97-AF65-F5344CB8AC3E}">
        <p14:creationId xmlns:p14="http://schemas.microsoft.com/office/powerpoint/2010/main" val="3082672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30265f8-c5e2-4918-b4a1-b977299ca3e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F0268AC5E70984D8FE60B7154176407" ma:contentTypeVersion="15" ma:contentTypeDescription="Create a new document." ma:contentTypeScope="" ma:versionID="104e359103f0f57b1cf9676756e5b944">
  <xsd:schema xmlns:xsd="http://www.w3.org/2001/XMLSchema" xmlns:xs="http://www.w3.org/2001/XMLSchema" xmlns:p="http://schemas.microsoft.com/office/2006/metadata/properties" xmlns:ns3="b30265f8-c5e2-4918-b4a1-b977299ca3e2" xmlns:ns4="fadb41d3-f9cb-40fb-903c-8cacaba95bb5" targetNamespace="http://schemas.microsoft.com/office/2006/metadata/properties" ma:root="true" ma:fieldsID="5615b8f8aa772998bad551f24a33de0e" ns3:_="" ns4:_="">
    <xsd:import namespace="b30265f8-c5e2-4918-b4a1-b977299ca3e2"/>
    <xsd:import namespace="fadb41d3-f9cb-40fb-903c-8cacaba95bb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265f8-c5e2-4918-b4a1-b977299ca3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db41d3-f9cb-40fb-903c-8cacaba95bb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http://www.w3.org/XML/1998/namespace"/>
    <ds:schemaRef ds:uri="http://purl.org/dc/dcmitype/"/>
    <ds:schemaRef ds:uri="http://purl.org/dc/terms/"/>
    <ds:schemaRef ds:uri="fadb41d3-f9cb-40fb-903c-8cacaba95bb5"/>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b30265f8-c5e2-4918-b4a1-b977299ca3e2"/>
    <ds:schemaRef ds:uri="http://schemas.microsoft.com/office/2006/metadata/properties"/>
  </ds:schemaRefs>
</ds:datastoreItem>
</file>

<file path=customXml/itemProps2.xml><?xml version="1.0" encoding="utf-8"?>
<ds:datastoreItem xmlns:ds="http://schemas.openxmlformats.org/officeDocument/2006/customXml" ds:itemID="{9DD71778-17EE-4151-88AE-C8F4E8043B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265f8-c5e2-4918-b4a1-b977299ca3e2"/>
    <ds:schemaRef ds:uri="fadb41d3-f9cb-40fb-903c-8cacaba95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92</TotalTime>
  <Words>563</Words>
  <Application>Microsoft Office PowerPoint</Application>
  <PresentationFormat>Widescreen</PresentationFormat>
  <Paragraphs>78</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Calibri</vt:lpstr>
      <vt:lpstr>Calibri Light</vt:lpstr>
      <vt:lpstr>Franklin Gothic Book</vt:lpstr>
      <vt:lpstr>Franklin Gothic Demi</vt:lpstr>
      <vt:lpstr>Times New Roman</vt:lpstr>
      <vt:lpstr>Times New Roman </vt:lpstr>
      <vt:lpstr>Wingdings</vt:lpstr>
      <vt:lpstr>Wingdings 2</vt:lpstr>
      <vt:lpstr>DividendVTI</vt:lpstr>
      <vt:lpstr>AI agent for chronic disease monitoring</vt:lpstr>
      <vt:lpstr>OUTLINE</vt:lpstr>
      <vt:lpstr>Problem Statement</vt:lpstr>
      <vt:lpstr>Technology  used</vt:lpstr>
      <vt:lpstr>IBM cloud services used</vt:lpstr>
      <vt:lpstr>Wow factors</vt:lpstr>
      <vt:lpstr>End users</vt:lpstr>
      <vt:lpstr>Results</vt:lpstr>
      <vt:lpstr>Results</vt:lpstr>
      <vt:lpstr>Results</vt:lpstr>
      <vt:lpstr>Results</vt:lpstr>
      <vt:lpstr>Conclusion</vt:lpstr>
      <vt:lpstr>GitHub Link</vt:lpstr>
      <vt:lpstr>PowerPoint Presentation</vt:lpstr>
      <vt:lpstr>IBM Certifications</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ABISHEK S</cp:lastModifiedBy>
  <cp:revision>147</cp:revision>
  <dcterms:created xsi:type="dcterms:W3CDTF">2021-05-26T16:50:10Z</dcterms:created>
  <dcterms:modified xsi:type="dcterms:W3CDTF">2025-08-05T18:41:26Z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0x0101007F0268AC5E70984D8FE60B7154176407</vt:lpwstr>
  </property>
</Properties>
</file>